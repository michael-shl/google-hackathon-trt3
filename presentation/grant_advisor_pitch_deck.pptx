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2" r:id="rId5"/>
    <p:sldMasterId id="2147483673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130">
          <p15:clr>
            <a:srgbClr val="747775"/>
          </p15:clr>
        </p15:guide>
        <p15:guide id="2" pos="144">
          <p15:clr>
            <a:srgbClr val="747775"/>
          </p15:clr>
        </p15:guide>
        <p15:guide id="3" orient="horz" pos="360">
          <p15:clr>
            <a:srgbClr val="747775"/>
          </p15:clr>
        </p15:guide>
        <p15:guide id="4" pos="446">
          <p15:clr>
            <a:srgbClr val="747775"/>
          </p15:clr>
        </p15:guide>
        <p15:guide id="5" pos="5477">
          <p15:clr>
            <a:srgbClr val="747775"/>
          </p15:clr>
        </p15:guide>
        <p15:guide id="6" orient="horz" pos="1253">
          <p15:clr>
            <a:srgbClr val="747775"/>
          </p15:clr>
        </p15:guide>
        <p15:guide id="7" pos="2845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DAF0F1-305B-411C-B7D9-DB96C7EA302D}">
  <a:tblStyle styleId="{28DAF0F1-305B-411C-B7D9-DB96C7EA302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130" orient="horz"/>
        <p:guide pos="144"/>
        <p:guide pos="360" orient="horz"/>
        <p:guide pos="446"/>
        <p:guide pos="5477"/>
        <p:guide pos="1253" orient="horz"/>
        <p:guide pos="2845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h52fa8b8a4798773f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h52fa8b8a4798773f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h52fa8b8a4798773f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h52fa8b8a4798773f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h52fa8b8a4798773f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h52fa8b8a4798773f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h52fa8b8a4798773f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h52fa8b8a4798773f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h52fa8b8a4798773f_0_1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h52fa8b8a4798773f_0_1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h52fa8b8a4798773f_0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h52fa8b8a4798773f_0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noFill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11" name="Google Shape;11;p2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3124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2" name="Google Shape;52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rgbClr val="121317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15" title="Asset 1@4x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481200" y="1779099"/>
            <a:ext cx="2861000" cy="1890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3124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0" name="Google Shape;60;p16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6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2" name="Google Shape;6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36326" y="689350"/>
            <a:ext cx="2707675" cy="376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5" name="Google Shape;65;p17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7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67" name="Google Shape;67;p17"/>
          <p:cNvSpPr txBox="1"/>
          <p:nvPr/>
        </p:nvSpPr>
        <p:spPr>
          <a:xfrm>
            <a:off x="577750" y="514609"/>
            <a:ext cx="2837700" cy="76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45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Our Team</a:t>
            </a:r>
            <a:endParaRPr sz="45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32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0" name="Google Shape;70;p18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18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2" name="Google Shape;72;p18"/>
          <p:cNvSpPr txBox="1"/>
          <p:nvPr/>
        </p:nvSpPr>
        <p:spPr>
          <a:xfrm>
            <a:off x="2380650" y="6541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Challenge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Overview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32">
          <p15:clr>
            <a:srgbClr val="E46962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5" name="Google Shape;75;p19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9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77" name="Google Shape;77;p19"/>
          <p:cNvSpPr txBox="1"/>
          <p:nvPr/>
        </p:nvSpPr>
        <p:spPr>
          <a:xfrm>
            <a:off x="2380650" y="1111325"/>
            <a:ext cx="4382700" cy="168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Impact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20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20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82" name="Google Shape;82;p20"/>
          <p:cNvSpPr txBox="1"/>
          <p:nvPr/>
        </p:nvSpPr>
        <p:spPr>
          <a:xfrm>
            <a:off x="-207025" y="490822"/>
            <a:ext cx="4382700" cy="10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Sources</a:t>
            </a:r>
            <a:endParaRPr sz="6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1"/>
          <p:cNvSpPr txBox="1"/>
          <p:nvPr/>
        </p:nvSpPr>
        <p:spPr>
          <a:xfrm>
            <a:off x="918646" y="662463"/>
            <a:ext cx="2679600" cy="10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F8F8F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   Architecture</a:t>
            </a:r>
            <a:endParaRPr sz="3000">
              <a:solidFill>
                <a:srgbClr val="F8F8F8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1pPr>
            <a:lvl2pPr lvl="1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2pPr>
            <a:lvl3pPr lvl="2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3pPr>
            <a:lvl4pPr lvl="3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4pPr>
            <a:lvl5pPr lvl="4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5pPr>
            <a:lvl6pPr lvl="5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6pPr>
            <a:lvl7pPr lvl="6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7pPr>
            <a:lvl8pPr lvl="7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8pPr>
            <a:lvl9pPr lvl="8">
              <a:buNone/>
              <a:defRPr sz="9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6" name="Google Shape;86;p21" title="GC_Logo_Reverse_rgb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725" y="4857575"/>
            <a:ext cx="717373" cy="1236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21"/>
          <p:cNvSpPr txBox="1"/>
          <p:nvPr/>
        </p:nvSpPr>
        <p:spPr>
          <a:xfrm>
            <a:off x="7146375" y="4792202"/>
            <a:ext cx="1641000" cy="2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Proprietary &amp; Confidential</a:t>
            </a:r>
            <a:endParaRPr sz="6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32">
          <p15:clr>
            <a:srgbClr val="E46962"/>
          </p15:clr>
        </p15:guide>
        <p15:guide id="2" pos="379">
          <p15:clr>
            <a:srgbClr val="E46962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22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Char char="●"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Char char="○"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Char char="■"/>
              <a:defRPr sz="4200"/>
            </a:lvl9pPr>
          </a:lstStyle>
          <a:p/>
        </p:txBody>
      </p:sp>
      <p:sp>
        <p:nvSpPr>
          <p:cNvPr id="91" name="Google Shape;91;p22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92" name="Google Shape;92;p22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3" name="Google Shape;9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3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/>
        </p:txBody>
      </p:sp>
      <p:sp>
        <p:nvSpPr>
          <p:cNvPr id="96" name="Google Shape;96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4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Char char="●"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Char char="○"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Char char="■"/>
              <a:defRPr sz="12000"/>
            </a:lvl9pPr>
          </a:lstStyle>
          <a:p>
            <a:r>
              <a:t>xx%</a:t>
            </a:r>
          </a:p>
        </p:txBody>
      </p:sp>
      <p:sp>
        <p:nvSpPr>
          <p:cNvPr id="99" name="Google Shape;99;p24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17500" lvl="0" marL="4572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0" name="Google Shape;100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Char char="●"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Char char="○"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Char char="■"/>
              <a:defRPr sz="5200"/>
            </a:lvl9pPr>
          </a:lstStyle>
          <a:p/>
        </p:txBody>
      </p:sp>
      <p:sp>
        <p:nvSpPr>
          <p:cNvPr id="105" name="Google Shape;105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06" name="Google Shape;106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121317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grant-desk-245858333498.us-central1.run.app/" TargetMode="External"/><Relationship Id="rId4" Type="http://schemas.openxmlformats.org/officeDocument/2006/relationships/hyperlink" Target="https://console.cloud.google.com/bigquery?facet_url=https:%2F%2Fcloud.google.com%2Fbigquery&amp;project=qwiklabs-gcp-04-7254cc802c4d&amp;ws=!1m6!1m5!4m3!1sqwiklabs-gcp-04-7254cc802c4d!2sa4i_econ!3stract_demographics!23sTREE_NODE_SELECTION" TargetMode="External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7"/>
          <p:cNvSpPr txBox="1"/>
          <p:nvPr/>
        </p:nvSpPr>
        <p:spPr>
          <a:xfrm>
            <a:off x="5790775" y="2503300"/>
            <a:ext cx="3080700" cy="613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1650" lIns="61650" spcFirstLastPara="1" rIns="61650" wrap="square" tIns="6165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5F6368"/>
                </a:solidFill>
              </a:defRPr>
            </a:pPr>
            <a:r>
              <a:t>Team 3</a:t>
            </a:r>
            <a:endParaRPr sz="48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Google Shape;112;p27" title="A4I_whiteArtboard 38.5-NYC.png"/>
          <p:cNvPicPr preferRelativeResize="0"/>
          <p:nvPr/>
        </p:nvPicPr>
        <p:blipFill rotWithShape="1">
          <a:blip r:embed="rId3">
            <a:alphaModFix/>
          </a:blip>
          <a:srcRect b="25727" l="0" r="0" t="27378"/>
          <a:stretch/>
        </p:blipFill>
        <p:spPr>
          <a:xfrm flipH="1" rot="10800000">
            <a:off x="3586375" y="2509998"/>
            <a:ext cx="2276050" cy="600399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TextBox 112"/>
          <p:cNvSpPr txBox="1"/>
          <p:nvPr/>
        </p:nvSpPr>
        <p:spPr>
          <a:xfrm>
            <a:off x="731520" y="1097280"/>
            <a:ext cx="7680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A73E8"/>
                </a:solidFill>
              </a:defRPr>
            </a:pPr>
            <a:r>
              <a:t>Grant Advisor</a:t>
            </a:r>
          </a:p>
          <a:p>
            <a:pPr>
              <a:defRPr sz="2200" b="1">
                <a:solidFill>
                  <a:srgbClr val="202124"/>
                </a:solidFill>
              </a:defRPr>
            </a:pPr>
            <a:r>
              <a:t>Community Economic Resilience &amp; Micro-Grants</a:t>
            </a:r>
          </a:p>
          <a:p>
            <a:pPr>
              <a:defRPr sz="1300">
                <a:solidFill>
                  <a:srgbClr val="5F6368"/>
                </a:solidFill>
              </a:defRPr>
            </a:pPr>
            <a:r>
              <a:t>Agents for Impact 2026 | Track: Main Street Relief | Corridor: Central Market, SF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7" name="Google Shape;117;p28"/>
          <p:cNvGraphicFramePr/>
          <p:nvPr/>
        </p:nvGraphicFramePr>
        <p:xfrm>
          <a:off x="577750" y="135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{28DAF0F1-305B-411C-B7D9-DB96C7EA302D}</a:tableStyleId>
              </a:tblPr>
              <a:tblGrid>
                <a:gridCol w="1352950"/>
                <a:gridCol w="1352950"/>
                <a:gridCol w="1238050"/>
                <a:gridCol w="1467825"/>
                <a:gridCol w="1352950"/>
                <a:gridCol w="1352950"/>
              </a:tblGrid>
              <a:tr h="3996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NAME </a:t>
                      </a:r>
                      <a:endParaRPr b="1" sz="8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EMAIL</a:t>
                      </a:r>
                      <a:endParaRPr b="1" sz="800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PHONE</a:t>
                      </a:r>
                      <a:endParaRPr b="1" sz="800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FILMING AVAILABILITY</a:t>
                      </a:r>
                      <a:endParaRPr b="1" sz="8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(between 1-4PM on 10/21)</a:t>
                      </a:r>
                      <a:endParaRPr sz="6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PROJECT SHARING</a:t>
                      </a:r>
                      <a:endParaRPr b="1" sz="800">
                        <a:solidFill>
                          <a:schemeClr val="lt1"/>
                        </a:solidFill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19050" marB="19050" marR="28575" marL="28575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SHARE WITH </a:t>
                      </a:r>
                      <a:br>
                        <a:rPr b="1" lang="en" sz="8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</a:br>
                      <a:r>
                        <a:rPr lang="en" sz="600">
                          <a:solidFill>
                            <a:schemeClr val="lt1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(provide emails)</a:t>
                      </a:r>
                      <a:endParaRPr sz="600">
                        <a:latin typeface="Google Sans Flex"/>
                        <a:ea typeface="Google Sans Flex"/>
                        <a:cs typeface="Google Sans Flex"/>
                        <a:sym typeface="Google Sans Flex"/>
                      </a:endParaRPr>
                    </a:p>
                  </a:txBody>
                  <a:tcPr marT="91425" marB="91425" marR="91425" marL="91425" anchor="ctr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Shihao Li</a:t>
                      </a:r>
                      <a:r>
                        <a:rPr lang="en">
                          <a:solidFill>
                            <a:schemeClr val="lt1"/>
                          </a:solidFill>
                        </a:rPr>
                        <a:t> 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lish1998@gmail.com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647-389-6899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i="1"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 i="1"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Daniel Wang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danielw.sas@gmail.com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647-208-8762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Harmeet D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harmeet.kaur2711@gmail.com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905-244-4392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No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384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Abhishek B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abhishekbhatt006@gmail.com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416-317-4960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717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Jaskirat T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jaskiratsingh2431@gmail.com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solidFill>
                            <a:schemeClr val="lt1"/>
                          </a:solidFill>
                        </a:rPr>
                        <a:t>438-921-0001</a:t>
                      </a:r>
                      <a:endParaRPr sz="1200"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lt1"/>
                          </a:solidFill>
                        </a:rPr>
                        <a:t>Yes</a:t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19050" marB="19050" marR="28575" marL="2857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>
                        <a:solidFill>
                          <a:schemeClr val="lt1"/>
                        </a:solidFill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18" name="Google Shape;118;p28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8"/>
          <p:cNvSpPr txBox="1"/>
          <p:nvPr/>
        </p:nvSpPr>
        <p:spPr>
          <a:xfrm>
            <a:off x="3415450" y="567011"/>
            <a:ext cx="5330100" cy="68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Filming Availability: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Should your team be selected as the winner, indicate if and when you are able to return to the Opera House between 1-4PM on 10/21 to film a team pitch of your project. 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Project Sharing: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 “yes” if you are OK with us sharing what you built with your team at work.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Share With: </a:t>
            </a:r>
            <a:r>
              <a:rPr lang="en" sz="8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If “yes” to the above, is there anyone specific you’d like us to share it with at work?  Provide email(s).</a:t>
            </a:r>
            <a:endParaRPr sz="8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5" name="Google Shape;125;p29" title="A4I_whiteArtboard 28.5-NYC.png"/>
          <p:cNvPicPr preferRelativeResize="0"/>
          <p:nvPr/>
        </p:nvPicPr>
        <p:blipFill rotWithShape="1">
          <a:blip r:embed="rId3">
            <a:alphaModFix/>
          </a:blip>
          <a:srcRect b="0" l="32349" r="40091" t="0"/>
          <a:stretch/>
        </p:blipFill>
        <p:spPr>
          <a:xfrm>
            <a:off x="1774475" y="471199"/>
            <a:ext cx="1003551" cy="2048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6" name="Google Shape;126;p29" title="A4I_whiteArtboard 28.5-NYC.png"/>
          <p:cNvPicPr preferRelativeResize="0"/>
          <p:nvPr/>
        </p:nvPicPr>
        <p:blipFill rotWithShape="1">
          <a:blip r:embed="rId3">
            <a:alphaModFix/>
          </a:blip>
          <a:srcRect b="0" l="32349" r="40091" t="0"/>
          <a:stretch/>
        </p:blipFill>
        <p:spPr>
          <a:xfrm rot="10800000">
            <a:off x="6382750" y="506306"/>
            <a:ext cx="1003551" cy="2048250"/>
          </a:xfrm>
          <a:prstGeom prst="rect">
            <a:avLst/>
          </a:prstGeom>
          <a:noFill/>
          <a:ln>
            <a:noFill/>
          </a:ln>
        </p:spPr>
      </p:pic>
      <p:sp>
        <p:nvSpPr>
          <p:cNvPr id="127" name="Google Shape;127;p29"/>
          <p:cNvSpPr txBox="1"/>
          <p:nvPr/>
        </p:nvSpPr>
        <p:spPr>
          <a:xfrm>
            <a:off x="129325" y="2637075"/>
            <a:ext cx="8700000" cy="199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Shifting small-business relief from isolated bailouts to systemic network resilience prevents single closures from spiraling into long-term commercial blight, safeguarding neighborhood tax bases and multiplying the protective reach of every public dollar. </a:t>
            </a:r>
            <a: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City grant officers must allocate scarce emergency micro-grants across dozens of struggling small businesses, but traditional spreadsheet rankings evaluate applicants in isolation—completely missing the hidden local supply-chain and footfall dependencies where a single closure triggers a multi-hop cascade of secondary failures down the block.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ctr">
              <a:lnSpc>
                <a:spcPct val="105000"/>
              </a:lnSpc>
              <a:spcBef>
                <a:spcPts val="2100"/>
              </a:spcBef>
              <a:spcAft>
                <a:spcPts val="2100"/>
              </a:spcAft>
              <a:buNone/>
            </a:pPr>
            <a:r>
              <a:rPr lang="en" sz="1200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Benefits: Municipal economic development officers and community lenders gain a defensible, network-aware advisor to allocate funds, directly protecting keystone suppliers, healthy downstream businesses 1–2 hops away, and residents in high-poverty neighborhoods (like SF's Central Market corridor) who rely on local storefronts for jobs and daily essentials.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73E8"/>
                </a:solidFill>
              </a:defRPr>
            </a:pPr>
            <a:r>
              <a:t>The Problem: Isolated Bailouts vs. Systemic Network Resilience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0"/>
          <p:cNvSpPr txBox="1"/>
          <p:nvPr>
            <p:ph idx="12" type="sldNum"/>
          </p:nvPr>
        </p:nvSpPr>
        <p:spPr>
          <a:xfrm>
            <a:off x="8248058" y="491462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3" name="Google Shape;133;p30"/>
          <p:cNvSpPr txBox="1"/>
          <p:nvPr/>
        </p:nvSpPr>
        <p:spPr>
          <a:xfrm>
            <a:off x="127850" y="2358534"/>
            <a:ext cx="8543100" cy="7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The Agent</a:t>
            </a:r>
            <a:endParaRPr b="1" sz="1300">
              <a:solidFill>
                <a:schemeClr val="lt1"/>
              </a:solidFill>
            </a:endParaRPr>
          </a:p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Uses </a:t>
            </a:r>
            <a:r>
              <a:rPr b="1" lang="en" sz="1100">
                <a:solidFill>
                  <a:schemeClr val="lt1"/>
                </a:solidFill>
              </a:rPr>
              <a:t>Google ADK, Gemini, and BigQuery Graph (GQL)</a:t>
            </a:r>
            <a:r>
              <a:rPr lang="en" sz="1100">
                <a:solidFill>
                  <a:schemeClr val="lt1"/>
                </a:solidFill>
              </a:rPr>
              <a:t> to trace multi-hop supply and footfall cascades, protecting entire neighborhood networks instead of isolated storefronts.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4" name="Google Shape;134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0" y="-3"/>
            <a:ext cx="1936451" cy="2692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07550" y="-3"/>
            <a:ext cx="1936451" cy="269245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30"/>
          <p:cNvSpPr txBox="1"/>
          <p:nvPr/>
        </p:nvSpPr>
        <p:spPr>
          <a:xfrm>
            <a:off x="253650" y="3171584"/>
            <a:ext cx="8543100" cy="7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User Interaction</a:t>
            </a:r>
            <a:r>
              <a:rPr lang="en" sz="1300">
                <a:solidFill>
                  <a:schemeClr val="lt1"/>
                </a:solidFill>
              </a:rPr>
              <a:t> </a:t>
            </a:r>
            <a:endParaRPr sz="1300">
              <a:solidFill>
                <a:schemeClr val="lt1"/>
              </a:solidFill>
            </a:endParaRPr>
          </a:p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Grant officers enter a relief budget and scenario in plain English to compare applicants, visualize 2-hop dependency paths, and stress-test funding splits.</a:t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7" name="Google Shape;137;p30"/>
          <p:cNvSpPr txBox="1"/>
          <p:nvPr/>
        </p:nvSpPr>
        <p:spPr>
          <a:xfrm>
            <a:off x="253650" y="3984628"/>
            <a:ext cx="8543100" cy="108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457200" rtl="0" algn="ctr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b="1" lang="en" sz="1300">
                <a:solidFill>
                  <a:schemeClr val="lt1"/>
                </a:solidFill>
              </a:rPr>
              <a:t>Concrete Outcome</a:t>
            </a:r>
            <a:endParaRPr sz="1300">
              <a:solidFill>
                <a:schemeClr val="lt1"/>
              </a:solidFill>
            </a:endParaRPr>
          </a:p>
          <a:p>
            <a:pPr indent="0" lvl="0" marL="457200" rtl="0"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</a:rPr>
              <a:t>Generates a </a:t>
            </a:r>
            <a:r>
              <a:rPr b="1" lang="en" sz="1100">
                <a:solidFill>
                  <a:schemeClr val="lt1"/>
                </a:solidFill>
              </a:rPr>
              <a:t>sign-ready Grant Memo</a:t>
            </a:r>
            <a:r>
              <a:rPr lang="en" sz="1100">
                <a:solidFill>
                  <a:schemeClr val="lt1"/>
                </a:solidFill>
              </a:rPr>
              <a:t> in minutes—naming who to fund, which downstream businesses are saved, and auditing for census-tract equity.</a:t>
            </a:r>
            <a:endParaRPr sz="1100">
              <a:solidFill>
                <a:schemeClr val="lt1"/>
              </a:solidFill>
            </a:endParaRPr>
          </a:p>
          <a:p>
            <a:pPr indent="0" lvl="0" marL="457200" rtl="0" algn="ctr">
              <a:lnSpc>
                <a:spcPct val="105000"/>
              </a:lnSpc>
              <a:spcBef>
                <a:spcPts val="1200"/>
              </a:spcBef>
              <a:spcAft>
                <a:spcPts val="2100"/>
              </a:spcAft>
              <a:buNone/>
            </a:pPr>
            <a:r>
              <a:t/>
            </a:r>
            <a:endParaRPr sz="1200">
              <a:solidFill>
                <a:schemeClr val="lt1"/>
              </a:solidFill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8" name="TextBox 137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73E8"/>
                </a:solidFill>
              </a:defRPr>
            </a:pPr>
            <a:r>
              <a:t>The Solution: Network-Aware Autonomous Agent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1"/>
          <p:cNvSpPr txBox="1"/>
          <p:nvPr/>
        </p:nvSpPr>
        <p:spPr>
          <a:xfrm>
            <a:off x="489150" y="1714450"/>
            <a:ext cx="5587500" cy="1909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300"/>
            </a:pPr>
            <a:r>
              <a:rPr lang="en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</a:t>
            </a:r>
            <a:br>
              <a:rPr lang="en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sz="1200" u="sng">
                <a:solidFill>
                  <a:schemeClr val="hlink"/>
                </a:solidFill>
                <a:hlinkClick r:id="rId3"/>
              </a:rPr>
              <a:t>https://grant-desk-245858333498.us-central1.run.app/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2100"/>
              </a:spcBef>
              <a:spcAft>
                <a:spcPts val="0"/>
              </a:spcAft>
              <a:buNone/>
              <a:defRPr sz="1300"/>
            </a:pPr>
            <a:r>
              <a:rPr lang="en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Data Source</a:t>
            </a:r>
            <a:br>
              <a:rPr lang="en">
                <a:solidFill>
                  <a:schemeClr val="lt1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</a:br>
            <a:r>
              <a:rPr lang="en" sz="1200" u="sng">
                <a:solidFill>
                  <a:schemeClr val="hlink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4"/>
              </a:rPr>
              <a:t>Google Cloud</a:t>
            </a:r>
            <a: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</a:t>
            </a:r>
            <a: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assigned</a:t>
            </a:r>
            <a: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to Team 3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300"/>
            </a:pPr>
            <a:r>
              <a:rPr lang="en" sz="1200">
                <a:solidFill>
                  <a:schemeClr val="lt1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 Repo - https://github.com/michael-shl/google-hackathon-trt3/tree/rc/1.0.0</a:t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  <a:defRPr sz="1300"/>
            </a:pPr>
            <a: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  <a:defRPr sz="1300"/>
            </a:pPr>
            <a:r>
              <a:t/>
            </a:r>
            <a:endParaRPr sz="12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sp>
        <p:nvSpPr>
          <p:cNvPr id="143" name="Google Shape;143;p31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44" name="Google Shape;144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10800000">
            <a:off x="4175675" y="519496"/>
            <a:ext cx="4769550" cy="951275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TextBox 144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73E8"/>
                </a:solidFill>
              </a:defRPr>
            </a:pPr>
            <a:r>
              <a:t>Live Demonstration &amp; Deployment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10896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400">
                <a:solidFill>
                  <a:srgbClr val="202124"/>
                </a:solidFill>
              </a:defRPr>
            </a:pPr>
            <a:r>
              <a:t>Live Test Scenario ($50,000 Budget across 11 Applicants):</a:t>
            </a:r>
          </a:p>
          <a:p>
            <a:pPr>
              <a:defRPr sz="1200">
                <a:solidFill>
                  <a:srgbClr val="3C4043"/>
                </a:solidFill>
              </a:defRPr>
            </a:pPr>
            <a:r>
              <a:t>• Keystone Detection: Identifies Bayside Roasters ($8,000) whose closure threatens 4 downstream storefronts 1–2 hops out.</a:t>
            </a:r>
          </a:p>
          <a:p>
            <a:pPr>
              <a:defRPr sz="1200">
                <a:solidFill>
                  <a:srgbClr val="3C4043"/>
                </a:solidFill>
              </a:defRPr>
            </a:pPr>
            <a:r>
              <a:t>• Multi-hop Graph Traversal: Uses BigQuery GQL to quantify indirect exposure that spreadsheets cannot see.</a:t>
            </a:r>
          </a:p>
          <a:p>
            <a:pPr>
              <a:defRPr sz="1200">
                <a:solidFill>
                  <a:srgbClr val="3C4043"/>
                </a:solidFill>
              </a:defRPr>
            </a:pPr>
            <a:r>
              <a:t>• Defensible Output: Generates 7-section Grant Memo with Graphviz visual, sensitivity bounds, and census equity audit.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317"/>
        </a:solid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/>
          <p:nvPr>
            <p:ph idx="12" type="sldNum"/>
          </p:nvPr>
        </p:nvSpPr>
        <p:spPr>
          <a:xfrm>
            <a:off x="8365633" y="470888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2" name="Google Shape;152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051560"/>
            <a:ext cx="8229600" cy="292608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TextBox 152"/>
          <p:cNvSpPr txBox="1"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A73E8"/>
                </a:solidFill>
              </a:defRPr>
            </a:pPr>
            <a:r>
              <a:t>System Architecture &amp; Engineering Rigor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57200" y="41148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202124"/>
                </a:solidFill>
              </a:defRPr>
            </a:pPr>
            <a:r>
              <a:t>Engineering Highlights: Google Cloud Run (Private Services) | Gemini 2.5 Flash on Vertex AI | BigQuery Property Graph</a:t>
            </a:r>
          </a:p>
          <a:p>
            <a:pPr>
              <a:defRPr sz="1000">
                <a:solidFill>
                  <a:srgbClr val="5F6368"/>
                </a:solidFill>
              </a:defRPr>
            </a:pPr>
            <a:r>
              <a:t>Rigor: Honest modeling of BEA supply rates vs. real SBA loans; hub discount to prevent false-positive centralities; full tract equity audit.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