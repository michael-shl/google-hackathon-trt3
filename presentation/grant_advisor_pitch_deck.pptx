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2" r:id="rId5"/>
    <p:sldMasterId id="2147483673" r:id="rId6"/>
  </p:sldMasterIdLst>
  <p:notesMasterIdLst>
    <p:notesMasterId r:id="rId7"/>
  </p:notesMasterIdLst>
  <p:sldIdLst>
    <p:sldId id="256" r:id="rId8"/>
    <p:sldId id="258" r:id="rId10"/>
    <p:sldId id="259" r:id="rId11"/>
    <p:sldId id="260" r:id="rId12"/>
    <p:sldId id="261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30">
          <p15:clr>
            <a:srgbClr val="747775"/>
          </p15:clr>
        </p15:guide>
        <p15:guide id="2" pos="144">
          <p15:clr>
            <a:srgbClr val="747775"/>
          </p15:clr>
        </p15:guide>
        <p15:guide id="3" orient="horz" pos="360">
          <p15:clr>
            <a:srgbClr val="747775"/>
          </p15:clr>
        </p15:guide>
        <p15:guide id="4" pos="446">
          <p15:clr>
            <a:srgbClr val="747775"/>
          </p15:clr>
        </p15:guide>
        <p15:guide id="5" pos="5477">
          <p15:clr>
            <a:srgbClr val="747775"/>
          </p15:clr>
        </p15:guide>
        <p15:guide id="6" orient="horz" pos="1253">
          <p15:clr>
            <a:srgbClr val="747775"/>
          </p15:clr>
        </p15:guide>
        <p15:guide id="7" pos="284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DAF0F1-305B-411C-B7D9-DB96C7EA302D}">
  <a:tblStyle styleId="{28DAF0F1-305B-411C-B7D9-DB96C7EA30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30" orient="horz"/>
        <p:guide pos="144"/>
        <p:guide pos="360" orient="horz"/>
        <p:guide pos="446"/>
        <p:guide pos="5477"/>
        <p:guide pos="1253" orient="horz"/>
        <p:guide pos="2845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52fa8b8a4798773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52fa8b8a4798773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52fa8b8a4798773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52fa8b8a4798773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52fa8b8a4798773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52fa8b8a4798773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52fa8b8a4798773f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52fa8b8a4798773f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52fa8b8a4798773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h52fa8b8a4798773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noFill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11" name="Google Shape;11;p2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24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121317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 title="Asset 1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1200" y="1779099"/>
            <a:ext cx="2861000" cy="189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124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6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2" name="Google Shape;6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6326" y="689350"/>
            <a:ext cx="2707675" cy="376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17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7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67" name="Google Shape;67;p17"/>
          <p:cNvSpPr txBox="1"/>
          <p:nvPr/>
        </p:nvSpPr>
        <p:spPr>
          <a:xfrm>
            <a:off x="577750" y="514609"/>
            <a:ext cx="2837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Our Team</a:t>
            </a:r>
            <a:endParaRPr sz="45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" name="Google Shape;70;p18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8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2" name="Google Shape;72;p18"/>
          <p:cNvSpPr txBox="1"/>
          <p:nvPr/>
        </p:nvSpPr>
        <p:spPr>
          <a:xfrm>
            <a:off x="2380650" y="654125"/>
            <a:ext cx="4382700" cy="16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Challenge</a:t>
            </a:r>
            <a:endParaRPr sz="6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Overview</a:t>
            </a:r>
            <a:endParaRPr sz="6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" name="Google Shape;75;p19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7" name="Google Shape;77;p19"/>
          <p:cNvSpPr txBox="1"/>
          <p:nvPr/>
        </p:nvSpPr>
        <p:spPr>
          <a:xfrm>
            <a:off x="2380650" y="1111325"/>
            <a:ext cx="4382700" cy="16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Impact</a:t>
            </a:r>
            <a:endParaRPr sz="6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20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82" name="Google Shape;82;p20"/>
          <p:cNvSpPr txBox="1"/>
          <p:nvPr/>
        </p:nvSpPr>
        <p:spPr>
          <a:xfrm>
            <a:off x="-207025" y="490822"/>
            <a:ext cx="43827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Sources</a:t>
            </a:r>
            <a:endParaRPr sz="6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E46962"/>
          </p15:clr>
        </p15:guide>
        <p15:guide id="2" pos="379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/>
        </p:nvSpPr>
        <p:spPr>
          <a:xfrm>
            <a:off x="918646" y="662463"/>
            <a:ext cx="26796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</a:t>
            </a:r>
            <a:endParaRPr sz="3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   Architecture</a:t>
            </a:r>
            <a:endParaRPr sz="3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1pPr>
            <a:lvl2pPr lvl="1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2pPr>
            <a:lvl3pPr lvl="2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3pPr>
            <a:lvl4pPr lvl="3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4pPr>
            <a:lvl5pPr lvl="4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5pPr>
            <a:lvl6pPr lvl="5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6pPr>
            <a:lvl7pPr lvl="6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7pPr>
            <a:lvl8pPr lvl="7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8pPr>
            <a:lvl9pPr lvl="8"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21" title="GC_Logo_Reverse_rgb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725" y="4857575"/>
            <a:ext cx="717373" cy="1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1"/>
          <p:cNvSpPr txBox="1"/>
          <p:nvPr/>
        </p:nvSpPr>
        <p:spPr>
          <a:xfrm>
            <a:off x="7146375" y="4792202"/>
            <a:ext cx="16410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E46962"/>
          </p15:clr>
        </p15:guide>
        <p15:guide id="2" pos="379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91" name="Google Shape;91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05" name="Google Shape;105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6" name="Google Shape;10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21317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rant-desk-245858333498.us-central1.run.app/" TargetMode="External"/><Relationship Id="rId4" Type="http://schemas.openxmlformats.org/officeDocument/2006/relationships/hyperlink" Target="https://console.cloud.google.com/bigquery?facet_url=https:%2F%2Fcloud.google.com%2Fbigquery&amp;project=qwiklabs-gcp-04-7254cc802c4d&amp;ws=!1m6!1m5!4m3!1sqwiklabs-gcp-04-7254cc802c4d!2sa4i_econ!3stract_demographics!23sTREE_NODE_SELECTION" TargetMode="External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317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/>
        </p:nvSpPr>
        <p:spPr>
          <a:xfrm>
            <a:off x="5790775" y="2503300"/>
            <a:ext cx="30807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650" lIns="61650" spcFirstLastPara="1" rIns="61650" wrap="square" tIns="616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5F6368"/>
                </a:solidFill>
              </a:defRPr>
            </a:pPr>
            <a:r>
              <a:t>Team 3</a:t>
            </a:r>
            <a:endParaRPr sz="4800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Google Shape;112;p27" title="A4I_whiteArtboard 38.5-NYC.png"/>
          <p:cNvPicPr preferRelativeResize="0"/>
          <p:nvPr/>
        </p:nvPicPr>
        <p:blipFill rotWithShape="1">
          <a:blip r:embed="rId3">
            <a:alphaModFix/>
          </a:blip>
          <a:srcRect b="25727" l="0" r="0" t="27378"/>
          <a:stretch/>
        </p:blipFill>
        <p:spPr>
          <a:xfrm flipH="1" rot="10800000">
            <a:off x="3586375" y="2509998"/>
            <a:ext cx="2276050" cy="6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TextBox 112"/>
          <p:cNvSpPr txBox="1"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73E8"/>
                </a:solidFill>
              </a:defRPr>
            </a:pPr>
            <a:r>
              <a:t>Grant Advisor</a:t>
            </a:r>
          </a:p>
          <a:p>
            <a:pPr>
              <a:defRPr sz="2200" b="1">
                <a:solidFill>
                  <a:srgbClr val="202124"/>
                </a:solidFill>
              </a:defRPr>
            </a:pPr>
            <a:r>
              <a:t>Community Economic Resilience &amp; Micro-Grants</a:t>
            </a:r>
          </a:p>
          <a:p>
            <a:pPr>
              <a:defRPr sz="1300">
                <a:solidFill>
                  <a:srgbClr val="5F6368"/>
                </a:solidFill>
              </a:defRPr>
            </a:pPr>
            <a:r>
              <a:t>Agents for Impact 2026 | Track: Main Street Relief | Corridor: Central Market, 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317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" name="Google Shape;125;p29" title="A4I_whiteArtboard 28.5-NYC.png"/>
          <p:cNvPicPr preferRelativeResize="0"/>
          <p:nvPr/>
        </p:nvPicPr>
        <p:blipFill rotWithShape="1">
          <a:blip r:embed="rId3">
            <a:alphaModFix/>
          </a:blip>
          <a:srcRect b="0" l="32349" r="40091" t="0"/>
          <a:stretch/>
        </p:blipFill>
        <p:spPr>
          <a:xfrm>
            <a:off x="1774475" y="471199"/>
            <a:ext cx="1003551" cy="2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9" title="A4I_whiteArtboard 28.5-NYC.png"/>
          <p:cNvPicPr preferRelativeResize="0"/>
          <p:nvPr/>
        </p:nvPicPr>
        <p:blipFill rotWithShape="1">
          <a:blip r:embed="rId3">
            <a:alphaModFix/>
          </a:blip>
          <a:srcRect b="0" l="32349" r="40091" t="0"/>
          <a:stretch/>
        </p:blipFill>
        <p:spPr>
          <a:xfrm rot="10800000">
            <a:off x="6382750" y="506306"/>
            <a:ext cx="1003551" cy="20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9"/>
          <p:cNvSpPr txBox="1"/>
          <p:nvPr/>
        </p:nvSpPr>
        <p:spPr>
          <a:xfrm>
            <a:off x="129325" y="2637075"/>
            <a:ext cx="8700000" cy="19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 city has $50,000 and more applicants than money. Ranking them one by one misses the supply chains between them: one closure can push businesses 1–2 hops away into trouble.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500" b="1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Who benefits: </a:t>
            </a:r>
            <a:r>
              <a:rPr lang="en" sz="1500" b="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grant officers get a defensible, network-aware recommendation; residents of high-poverty corridors like SF's Central Market keep the storefronts they rely on.</a:t>
            </a:r>
            <a:endParaRPr sz="1200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457200" y="45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73E8"/>
                </a:solidFill>
              </a:defRPr>
            </a:pPr>
            <a:r>
              <a:t>The Problem: Relief That Ignores the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317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idx="12" type="sldNum"/>
          </p:nvPr>
        </p:nvSpPr>
        <p:spPr>
          <a:xfrm>
            <a:off x="8248058" y="491462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30"/>
          <p:cNvSpPr txBox="1"/>
          <p:nvPr/>
        </p:nvSpPr>
        <p:spPr>
          <a:xfrm>
            <a:off x="127850" y="2358534"/>
            <a:ext cx="85431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The Agent</a:t>
            </a:r>
            <a:endParaRPr b="1" sz="1300">
              <a:solidFill>
                <a:schemeClr val="lt1"/>
              </a:solidFill>
            </a:endParaRPr>
          </a:p>
          <a:p>
            <a:pPr indent="0" lvl="0" marL="457200" rtl="0" algn="ctr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100" b="1">
                <a:solidFill>
                  <a:schemeClr val="lt1"/>
                </a:solidFill>
              </a:rPr>
              <a:t>Google ADK + Gemini</a:t>
            </a:r>
            <a:r>
              <a:rPr lang="en" sz="1100" b="0">
                <a:solidFill>
                  <a:schemeClr val="lt1"/>
                </a:solidFill>
              </a:rPr>
              <a:t> walk a </a:t>
            </a:r>
            <a:r>
              <a:rPr lang="en" sz="1100" b="1">
                <a:solidFill>
                  <a:schemeClr val="lt1"/>
                </a:solidFill>
              </a:rPr>
              <a:t>BigQuery property graph (multi-hop GQL)</a:t>
            </a:r>
            <a:r>
              <a:rPr lang="en" sz="1100" b="0">
                <a:solidFill>
                  <a:schemeClr val="lt1"/>
                </a:solidFill>
              </a:rPr>
              <a:t> to find every business a closure would expose.</a:t>
            </a:r>
            <a:endParaRPr sz="1200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4" name="Google Shape;13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0" y="-3"/>
            <a:ext cx="1936451" cy="269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550" y="-3"/>
            <a:ext cx="1936451" cy="269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0"/>
          <p:cNvSpPr txBox="1"/>
          <p:nvPr/>
        </p:nvSpPr>
        <p:spPr>
          <a:xfrm>
            <a:off x="253650" y="3171584"/>
            <a:ext cx="85431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User Interaction</a:t>
            </a:r>
            <a:r>
              <a:rPr lang="en" sz="1300">
                <a:solidFill>
                  <a:schemeClr val="lt1"/>
                </a:solidFill>
              </a:rPr>
              <a:t> </a:t>
            </a:r>
            <a:endParaRPr sz="1300">
              <a:solidFill>
                <a:schemeClr val="lt1"/>
              </a:solidFill>
            </a:endParaRPr>
          </a:p>
          <a:p>
            <a:pPr indent="0" lvl="0" marL="457200" rtl="0" algn="ctr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The officer sets a budget in the Grant Desk; the agent ranks the queue, traces the cascade and answers follow-up questions.</a:t>
            </a:r>
            <a:endParaRPr sz="1200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7" name="Google Shape;137;p30"/>
          <p:cNvSpPr txBox="1"/>
          <p:nvPr/>
        </p:nvSpPr>
        <p:spPr>
          <a:xfrm>
            <a:off x="253650" y="3984628"/>
            <a:ext cx="8543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Concrete Outcome</a:t>
            </a:r>
            <a:endParaRPr sz="1300">
              <a:solidFill>
                <a:schemeClr val="lt1"/>
              </a:solidFill>
            </a:endParaRPr>
          </a:p>
          <a:p>
            <a:pPr indent="0" lvl="0" marL="45720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>
                <a:solidFill>
                  <a:schemeClr val="lt1"/>
                </a:solidFill>
              </a:rPr>
              <a:t>A </a:t>
            </a:r>
            <a:r>
              <a:rPr lang="en" sz="1100" b="1">
                <a:solidFill>
                  <a:schemeClr val="lt1"/>
                </a:solidFill>
              </a:rPr>
              <a:t>Grant Memo</a:t>
            </a:r>
            <a:r>
              <a:rPr lang="en" sz="1100" b="0">
                <a:solidFill>
                  <a:schemeClr val="lt1"/>
                </a:solidFill>
              </a:rPr>
              <a:t>: who to fund, how much, which businesses it protects, why not the runner-up, plus an equity audit.</a:t>
            </a:r>
            <a:endParaRPr sz="1100">
              <a:solidFill>
                <a:schemeClr val="lt1"/>
              </a:solidFill>
            </a:endParaRPr>
          </a:p>
          <a:p>
            <a:pPr indent="0" lvl="0" marL="457200" rtl="0" algn="ctr">
              <a:lnSpc>
                <a:spcPct val="105000"/>
              </a:lnSpc>
              <a:spcBef>
                <a:spcPts val="1200"/>
              </a:spcBef>
              <a:spcAft>
                <a:spcPts val="21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965960" y="2743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73E8"/>
                </a:solidFill>
              </a:defRPr>
            </a:pPr>
            <a:r>
              <a:t>A Network-Aware Grant Advisor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317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 txBox="1"/>
          <p:nvPr/>
        </p:nvSpPr>
        <p:spPr>
          <a:xfrm>
            <a:off x="489150" y="1714450"/>
            <a:ext cx="5587500" cy="19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  <a:defRPr sz="1300"/>
            </a:pPr>
            <a:br>
              <a:rPr lang="en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</a:br>
            <a:r>
              <a:rPr lang="en" b="1" sz="12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App: </a:t>
            </a:r>
            <a:r>
              <a:rPr lang="en" b="0" sz="12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grant-desk (private Cloud Run service)</a:t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2100"/>
              </a:spcBef>
              <a:spcAft>
                <a:spcPts val="0"/>
              </a:spcAft>
              <a:buNone/>
              <a:defRPr sz="1300"/>
            </a:pPr>
            <a:br>
              <a:rPr lang="en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</a:br>
            <a:r>
              <a:rPr lang="en" b="1" sz="12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Data: </a:t>
            </a:r>
            <a:r>
              <a:rPr lang="en" b="0" sz="12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BigQuery, 232 real Central Market businesses</a:t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  <a:defRPr sz="1300"/>
            </a:pPr>
            <a:r>
              <a:rPr lang="en" sz="1200" b="1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Repo: </a:t>
            </a:r>
            <a:r>
              <a:rPr lang="en" sz="1200" b="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github.com/michael-shl/google-hackathon-trt3</a:t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  <a:defRPr sz="1300"/>
            </a:pPr>
            <a:r>
              <a:t/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  <a:defRPr sz="1300"/>
            </a:pPr>
            <a:r>
              <a:t/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43" name="Google Shape;143;p31"/>
          <p:cNvSpPr txBox="1"/>
          <p:nvPr>
            <p:ph idx="12" type="sldNum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4" name="Google Shape;14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4175675" y="519496"/>
            <a:ext cx="4769550" cy="95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TextBox 14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73E8"/>
                </a:solidFill>
              </a:defRPr>
            </a:pPr>
            <a:r>
              <a:t>Live Demo on Real Data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7200" y="34290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02124"/>
                </a:solidFill>
              </a:defRPr>
            </a:pPr>
            <a:r>
              <a:rPr>
                <a:solidFill>
                  <a:srgbClr val="E8EAED"/>
                </a:solidFill>
              </a:rPr>
              <a:t>$50,000 across 11 applicants (simulated applications, real businesses):</a:t>
            </a:r>
          </a:p>
          <a:p>
            <a:pPr>
              <a:defRPr sz="1200">
                <a:solidFill>
                  <a:srgbClr val="3C4043"/>
                </a:solidFill>
              </a:defRPr>
            </a:pPr>
            <a:r>
              <a:rPr>
                <a:solidFill>
                  <a:srgbClr val="E8EAED"/>
                </a:solidFill>
              </a:rPr>
              <a:t>• Funds Cumaica Coffee $20k and Sour Flour $25k: each protects 148 businesses within 2 hops.</a:t>
            </a:r>
          </a:p>
          <a:p>
            <a:pPr>
              <a:defRPr sz="1200">
                <a:solidFill>
                  <a:srgbClr val="3C4043"/>
                </a:solidFill>
              </a:defRPr>
            </a:pPr>
            <a:r>
              <a:rPr>
                <a:solidFill>
                  <a:srgbClr val="E8EAED"/>
                </a:solidFill>
              </a:rPr>
              <a:t>• Uses the whole budget: a partial $5k grant to G.Rabbit (18 businesses exposed).</a:t>
            </a:r>
          </a:p>
          <a:p>
            <a:pPr>
              <a:defRPr sz="1200">
                <a:solidFill>
                  <a:srgbClr val="3C4043"/>
                </a:solidFill>
              </a:defRPr>
            </a:pPr>
            <a:r>
              <a:rPr>
                <a:solidFill>
                  <a:srgbClr val="E8EAED"/>
                </a:solidFill>
              </a:rPr>
              <a:t>• Every path comes from a live BigQuery GQL traversal, written up as a 7-section Grant Memo.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317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idx="12" type="sldNum"/>
          </p:nvPr>
        </p:nvSpPr>
        <p:spPr>
          <a:xfrm>
            <a:off x="8365633" y="470888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2" name="Google Shape;15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9868" y="1645920"/>
            <a:ext cx="6684264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TextBox 15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73E8"/>
                </a:solidFill>
              </a:defRPr>
            </a:pPr>
            <a:r>
              <a:t>Architecture &amp; Rigor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02124"/>
                </a:solidFill>
              </a:defRPr>
            </a:pPr>
            <a:r>
              <a:rPr lang="en-US" b="1">
                <a:solidFill>
                  <a:srgbClr val="E8EAED"/>
                </a:solidFill>
              </a:rPr>
              <a:t>Built on: </a:t>
            </a:r>
            <a:r>
              <a:rPr lang="en-US" b="0">
                <a:solidFill>
                  <a:srgbClr val="E8EAED"/>
                </a:solidFill>
              </a:rPr>
              <a:t>Cloud Run (private) · ADK + Gemini 2.5 Flash · MCP Toolbox · BigQuery property graph</a:t>
            </a:r>
          </a:p>
          <a:p>
            <a:pPr>
              <a:defRPr sz="1000">
                <a:solidFill>
                  <a:srgbClr val="5F6368"/>
                </a:solidFill>
              </a:defRPr>
            </a:pPr>
            <a:r>
              <a:rPr lang="en-US" b="1">
                <a:solidFill>
                  <a:srgbClr val="E8EAED"/>
                </a:solidFill>
              </a:rPr>
              <a:t>Rigor: </a:t>
            </a:r>
            <a:r>
              <a:rPr lang="en-US" b="0">
                <a:solidFill>
                  <a:srgbClr val="E8EAED"/>
                </a:solidFill>
              </a:rPr>
              <a:t>real vs modeled data labelled on every answer · grant effect stated with low / base / high settings · equity audit · 31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