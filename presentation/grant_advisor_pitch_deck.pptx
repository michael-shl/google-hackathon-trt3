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72" r:id="rId5"/>
    <p:sldMasterId id="2147483673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3130">
          <p15:clr>
            <a:srgbClr val="747775"/>
          </p15:clr>
        </p15:guide>
        <p15:guide id="2" pos="144">
          <p15:clr>
            <a:srgbClr val="747775"/>
          </p15:clr>
        </p15:guide>
        <p15:guide id="3" orient="horz" pos="360">
          <p15:clr>
            <a:srgbClr val="747775"/>
          </p15:clr>
        </p15:guide>
        <p15:guide id="4" pos="446">
          <p15:clr>
            <a:srgbClr val="747775"/>
          </p15:clr>
        </p15:guide>
        <p15:guide id="5" pos="5477">
          <p15:clr>
            <a:srgbClr val="747775"/>
          </p15:clr>
        </p15:guide>
        <p15:guide id="6" orient="horz" pos="1253">
          <p15:clr>
            <a:srgbClr val="747775"/>
          </p15:clr>
        </p15:guide>
        <p15:guide id="7" pos="2845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28DAF0F1-305B-411C-B7D9-DB96C7EA302D}">
  <a:tblStyle styleId="{28DAF0F1-305B-411C-B7D9-DB96C7EA302D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3130" orient="horz"/>
        <p:guide pos="144"/>
        <p:guide pos="360" orient="horz"/>
        <p:guide pos="446"/>
        <p:guide pos="5477"/>
        <p:guide pos="1253" orient="horz"/>
        <p:guide pos="2845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slideMaster" Target="slideMasters/slideMaster2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h52fa8b8a4798773f_0_1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9" name="Google Shape;109;h52fa8b8a4798773f_0_1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h52fa8b8a4798773f_0_1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" name="Google Shape;115;h52fa8b8a4798773f_0_1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h52fa8b8a4798773f_0_13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h52fa8b8a4798773f_0_13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h52fa8b8a4798773f_0_1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h52fa8b8a4798773f_0_1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h52fa8b8a4798773f_0_1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h52fa8b8a4798773f_0_1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h52fa8b8a4798773f_0_1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h52fa8b8a4798773f_0_1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noFill/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idx="12" type="sldNum"/>
          </p:nvPr>
        </p:nvSpPr>
        <p:spPr>
          <a:xfrm>
            <a:off x="8365633" y="470888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pic>
        <p:nvPicPr>
          <p:cNvPr id="11" name="Google Shape;11;p2" title="GC_Logo_Reverse_rgb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42725" y="4857575"/>
            <a:ext cx="717373" cy="123650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12;p2"/>
          <p:cNvSpPr txBox="1"/>
          <p:nvPr/>
        </p:nvSpPr>
        <p:spPr>
          <a:xfrm>
            <a:off x="7146375" y="4792202"/>
            <a:ext cx="1641000" cy="2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Proprietary &amp; Confidential</a:t>
            </a:r>
            <a:endParaRPr sz="600">
              <a:solidFill>
                <a:schemeClr val="lt1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orient="horz" pos="3124">
          <p15:clr>
            <a:srgbClr val="E46962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_1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52" name="Google Shape;52;p13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53" name="Google Shape;53;p1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rgbClr val="121317"/>
        </a:solidFill>
      </p:bgPr>
    </p:bg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" name="Google Shape;57;p15" title="Asset 1@4x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81200" y="1779099"/>
            <a:ext cx="2861000" cy="1890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3124">
          <p15:clr>
            <a:srgbClr val="E46962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6"/>
          <p:cNvSpPr txBox="1"/>
          <p:nvPr>
            <p:ph idx="12" type="sldNum"/>
          </p:nvPr>
        </p:nvSpPr>
        <p:spPr>
          <a:xfrm>
            <a:off x="8365633" y="470888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1pPr>
            <a:lvl2pPr lvl="1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2pPr>
            <a:lvl3pPr lvl="2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3pPr>
            <a:lvl4pPr lvl="3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4pPr>
            <a:lvl5pPr lvl="4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5pPr>
            <a:lvl6pPr lvl="5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6pPr>
            <a:lvl7pPr lvl="6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7pPr>
            <a:lvl8pPr lvl="7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8pPr>
            <a:lvl9pPr lvl="8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60" name="Google Shape;60;p16" title="GC_Logo_Reverse_rgb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42725" y="4857575"/>
            <a:ext cx="717373" cy="123650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16"/>
          <p:cNvSpPr txBox="1"/>
          <p:nvPr/>
        </p:nvSpPr>
        <p:spPr>
          <a:xfrm>
            <a:off x="7146375" y="4792202"/>
            <a:ext cx="1641000" cy="2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Proprietary &amp; Confidential</a:t>
            </a:r>
            <a:endParaRPr sz="600">
              <a:solidFill>
                <a:schemeClr val="lt1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pic>
        <p:nvPicPr>
          <p:cNvPr id="62" name="Google Shape;62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436326" y="689350"/>
            <a:ext cx="2707675" cy="3764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7"/>
          <p:cNvSpPr txBox="1"/>
          <p:nvPr>
            <p:ph idx="12" type="sldNum"/>
          </p:nvPr>
        </p:nvSpPr>
        <p:spPr>
          <a:xfrm>
            <a:off x="8365633" y="470888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1pPr>
            <a:lvl2pPr lvl="1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2pPr>
            <a:lvl3pPr lvl="2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3pPr>
            <a:lvl4pPr lvl="3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4pPr>
            <a:lvl5pPr lvl="4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5pPr>
            <a:lvl6pPr lvl="5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6pPr>
            <a:lvl7pPr lvl="6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7pPr>
            <a:lvl8pPr lvl="7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8pPr>
            <a:lvl9pPr lvl="8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65" name="Google Shape;65;p17" title="GC_Logo_Reverse_rgb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42725" y="4857575"/>
            <a:ext cx="717373" cy="123650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17"/>
          <p:cNvSpPr txBox="1"/>
          <p:nvPr/>
        </p:nvSpPr>
        <p:spPr>
          <a:xfrm>
            <a:off x="7146375" y="4792202"/>
            <a:ext cx="1641000" cy="2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Proprietary &amp; Confidential</a:t>
            </a:r>
            <a:endParaRPr sz="600">
              <a:solidFill>
                <a:schemeClr val="lt1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sp>
        <p:nvSpPr>
          <p:cNvPr id="67" name="Google Shape;67;p17"/>
          <p:cNvSpPr txBox="1"/>
          <p:nvPr/>
        </p:nvSpPr>
        <p:spPr>
          <a:xfrm>
            <a:off x="577750" y="514609"/>
            <a:ext cx="2837700" cy="768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4500">
                <a:solidFill>
                  <a:srgbClr val="F8F8F8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Our Team</a:t>
            </a:r>
            <a:endParaRPr sz="4500">
              <a:solidFill>
                <a:srgbClr val="F8F8F8"/>
              </a:solidFill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orient="horz" pos="432">
          <p15:clr>
            <a:srgbClr val="E46962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8"/>
          <p:cNvSpPr txBox="1"/>
          <p:nvPr>
            <p:ph idx="12" type="sldNum"/>
          </p:nvPr>
        </p:nvSpPr>
        <p:spPr>
          <a:xfrm>
            <a:off x="8365633" y="470888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1pPr>
            <a:lvl2pPr lvl="1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2pPr>
            <a:lvl3pPr lvl="2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3pPr>
            <a:lvl4pPr lvl="3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4pPr>
            <a:lvl5pPr lvl="4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5pPr>
            <a:lvl6pPr lvl="5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6pPr>
            <a:lvl7pPr lvl="6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7pPr>
            <a:lvl8pPr lvl="7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8pPr>
            <a:lvl9pPr lvl="8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70" name="Google Shape;70;p18" title="GC_Logo_Reverse_rgb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42725" y="4857575"/>
            <a:ext cx="717373" cy="123650"/>
          </a:xfrm>
          <a:prstGeom prst="rect">
            <a:avLst/>
          </a:prstGeom>
          <a:noFill/>
          <a:ln>
            <a:noFill/>
          </a:ln>
        </p:spPr>
      </p:pic>
      <p:sp>
        <p:nvSpPr>
          <p:cNvPr id="71" name="Google Shape;71;p18"/>
          <p:cNvSpPr txBox="1"/>
          <p:nvPr/>
        </p:nvSpPr>
        <p:spPr>
          <a:xfrm>
            <a:off x="7146375" y="4792202"/>
            <a:ext cx="1641000" cy="2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Proprietary &amp; Confidential</a:t>
            </a:r>
            <a:endParaRPr sz="600">
              <a:solidFill>
                <a:schemeClr val="lt1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sp>
        <p:nvSpPr>
          <p:cNvPr id="72" name="Google Shape;72;p18"/>
          <p:cNvSpPr txBox="1"/>
          <p:nvPr/>
        </p:nvSpPr>
        <p:spPr>
          <a:xfrm>
            <a:off x="2380650" y="654125"/>
            <a:ext cx="4382700" cy="168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6000">
                <a:solidFill>
                  <a:srgbClr val="F8F8F8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Challenge</a:t>
            </a:r>
            <a:endParaRPr sz="6000">
              <a:solidFill>
                <a:srgbClr val="F8F8F8"/>
              </a:solidFill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6000">
                <a:solidFill>
                  <a:srgbClr val="F8F8F8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Overview</a:t>
            </a:r>
            <a:endParaRPr sz="6000">
              <a:solidFill>
                <a:srgbClr val="F8F8F8"/>
              </a:solidFill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orient="horz" pos="432">
          <p15:clr>
            <a:srgbClr val="E46962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9"/>
          <p:cNvSpPr txBox="1"/>
          <p:nvPr>
            <p:ph idx="12" type="sldNum"/>
          </p:nvPr>
        </p:nvSpPr>
        <p:spPr>
          <a:xfrm>
            <a:off x="8365633" y="470888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1pPr>
            <a:lvl2pPr lvl="1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2pPr>
            <a:lvl3pPr lvl="2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3pPr>
            <a:lvl4pPr lvl="3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4pPr>
            <a:lvl5pPr lvl="4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5pPr>
            <a:lvl6pPr lvl="5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6pPr>
            <a:lvl7pPr lvl="6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7pPr>
            <a:lvl8pPr lvl="7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8pPr>
            <a:lvl9pPr lvl="8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75" name="Google Shape;75;p19" title="GC_Logo_Reverse_rgb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42725" y="4857575"/>
            <a:ext cx="717373" cy="123650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9"/>
          <p:cNvSpPr txBox="1"/>
          <p:nvPr/>
        </p:nvSpPr>
        <p:spPr>
          <a:xfrm>
            <a:off x="7146375" y="4792202"/>
            <a:ext cx="1641000" cy="2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Proprietary &amp; Confidential</a:t>
            </a:r>
            <a:endParaRPr sz="600">
              <a:solidFill>
                <a:schemeClr val="lt1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sp>
        <p:nvSpPr>
          <p:cNvPr id="77" name="Google Shape;77;p19"/>
          <p:cNvSpPr txBox="1"/>
          <p:nvPr/>
        </p:nvSpPr>
        <p:spPr>
          <a:xfrm>
            <a:off x="2380650" y="1111325"/>
            <a:ext cx="4382700" cy="168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6000">
                <a:solidFill>
                  <a:srgbClr val="F8F8F8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Impact</a:t>
            </a:r>
            <a:endParaRPr sz="6000">
              <a:solidFill>
                <a:srgbClr val="F8F8F8"/>
              </a:solidFill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20"/>
          <p:cNvSpPr txBox="1"/>
          <p:nvPr>
            <p:ph idx="12" type="sldNum"/>
          </p:nvPr>
        </p:nvSpPr>
        <p:spPr>
          <a:xfrm>
            <a:off x="8365633" y="470888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1pPr>
            <a:lvl2pPr lvl="1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2pPr>
            <a:lvl3pPr lvl="2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3pPr>
            <a:lvl4pPr lvl="3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4pPr>
            <a:lvl5pPr lvl="4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5pPr>
            <a:lvl6pPr lvl="5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6pPr>
            <a:lvl7pPr lvl="6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7pPr>
            <a:lvl8pPr lvl="7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8pPr>
            <a:lvl9pPr lvl="8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80" name="Google Shape;80;p20" title="GC_Logo_Reverse_rgb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42725" y="4857575"/>
            <a:ext cx="717373" cy="123650"/>
          </a:xfrm>
          <a:prstGeom prst="rect">
            <a:avLst/>
          </a:prstGeom>
          <a:noFill/>
          <a:ln>
            <a:noFill/>
          </a:ln>
        </p:spPr>
      </p:pic>
      <p:sp>
        <p:nvSpPr>
          <p:cNvPr id="81" name="Google Shape;81;p20"/>
          <p:cNvSpPr txBox="1"/>
          <p:nvPr/>
        </p:nvSpPr>
        <p:spPr>
          <a:xfrm>
            <a:off x="7146375" y="4792202"/>
            <a:ext cx="1641000" cy="2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Proprietary &amp; Confidential</a:t>
            </a:r>
            <a:endParaRPr sz="600">
              <a:solidFill>
                <a:schemeClr val="lt1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sp>
        <p:nvSpPr>
          <p:cNvPr id="82" name="Google Shape;82;p20"/>
          <p:cNvSpPr txBox="1"/>
          <p:nvPr/>
        </p:nvSpPr>
        <p:spPr>
          <a:xfrm>
            <a:off x="-207025" y="490822"/>
            <a:ext cx="4382700" cy="100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6000">
                <a:solidFill>
                  <a:srgbClr val="F8F8F8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Sources</a:t>
            </a:r>
            <a:endParaRPr sz="6000">
              <a:solidFill>
                <a:srgbClr val="F8F8F8"/>
              </a:solidFill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orient="horz" pos="432">
          <p15:clr>
            <a:srgbClr val="E46962"/>
          </p15:clr>
        </p15:guide>
        <p15:guide id="2" pos="379">
          <p15:clr>
            <a:srgbClr val="E46962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21"/>
          <p:cNvSpPr txBox="1"/>
          <p:nvPr/>
        </p:nvSpPr>
        <p:spPr>
          <a:xfrm>
            <a:off x="918646" y="662463"/>
            <a:ext cx="2679600" cy="100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rgbClr val="F8F8F8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Prototype</a:t>
            </a:r>
            <a:endParaRPr sz="3000">
              <a:solidFill>
                <a:srgbClr val="F8F8F8"/>
              </a:solidFill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rgbClr val="F8F8F8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   Architecture</a:t>
            </a:r>
            <a:endParaRPr sz="3000">
              <a:solidFill>
                <a:srgbClr val="F8F8F8"/>
              </a:solidFill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85" name="Google Shape;85;p21"/>
          <p:cNvSpPr txBox="1"/>
          <p:nvPr>
            <p:ph idx="12" type="sldNum"/>
          </p:nvPr>
        </p:nvSpPr>
        <p:spPr>
          <a:xfrm>
            <a:off x="8365633" y="470888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1pPr>
            <a:lvl2pPr lvl="1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2pPr>
            <a:lvl3pPr lvl="2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3pPr>
            <a:lvl4pPr lvl="3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4pPr>
            <a:lvl5pPr lvl="4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5pPr>
            <a:lvl6pPr lvl="5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6pPr>
            <a:lvl7pPr lvl="6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7pPr>
            <a:lvl8pPr lvl="7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8pPr>
            <a:lvl9pPr lvl="8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86" name="Google Shape;86;p21" title="GC_Logo_Reverse_rgb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42725" y="4857575"/>
            <a:ext cx="717373" cy="123650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21"/>
          <p:cNvSpPr txBox="1"/>
          <p:nvPr/>
        </p:nvSpPr>
        <p:spPr>
          <a:xfrm>
            <a:off x="7146375" y="4792202"/>
            <a:ext cx="1641000" cy="2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Proprietary &amp; Confidential</a:t>
            </a:r>
            <a:endParaRPr sz="600">
              <a:solidFill>
                <a:schemeClr val="lt1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orient="horz" pos="432">
          <p15:clr>
            <a:srgbClr val="E46962"/>
          </p15:clr>
        </p15:guide>
        <p15:guide id="2" pos="379">
          <p15:clr>
            <a:srgbClr val="E46962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2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0" name="Google Shape;90;p22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Char char="●"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Char char="○"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Char char="■"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Char char="●"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Char char="○"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Char char="■"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Char char="●"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Char char="○"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Char char="■"/>
              <a:defRPr sz="4200"/>
            </a:lvl9pPr>
          </a:lstStyle>
          <a:p/>
        </p:txBody>
      </p:sp>
      <p:sp>
        <p:nvSpPr>
          <p:cNvPr id="91" name="Google Shape;91;p22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92" name="Google Shape;92;p22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93" name="Google Shape;93;p2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3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</a:lstStyle>
          <a:p/>
        </p:txBody>
      </p:sp>
      <p:sp>
        <p:nvSpPr>
          <p:cNvPr id="96" name="Google Shape;96;p2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4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Char char="●"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Char char="○"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Char char="■"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Char char="●"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Char char="○"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Char char="■"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Char char="●"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Char char="○"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Char char="■"/>
              <a:defRPr sz="12000"/>
            </a:lvl9pPr>
          </a:lstStyle>
          <a:p>
            <a:r>
              <a:t>xx%</a:t>
            </a:r>
          </a:p>
        </p:txBody>
      </p:sp>
      <p:sp>
        <p:nvSpPr>
          <p:cNvPr id="99" name="Google Shape;99;p24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17500" lvl="0" marL="4572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00" name="Google Shape;100;p2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2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_1"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6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Char char="●"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Char char="○"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Char char="■"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Char char="●"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Char char="○"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Char char="■"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Char char="●"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Char char="○"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Char char="■"/>
              <a:defRPr sz="5200"/>
            </a:lvl9pPr>
          </a:lstStyle>
          <a:p/>
        </p:txBody>
      </p:sp>
      <p:sp>
        <p:nvSpPr>
          <p:cNvPr id="105" name="Google Shape;105;p26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06" name="Google Shape;106;p2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7.xml"/><Relationship Id="rId6" Type="http://schemas.openxmlformats.org/officeDocument/2006/relationships/slideLayout" Target="../slideLayouts/slideLayout18.xml"/><Relationship Id="rId7" Type="http://schemas.openxmlformats.org/officeDocument/2006/relationships/slideLayout" Target="../slideLayouts/slideLayout19.xml"/><Relationship Id="rId8" Type="http://schemas.openxmlformats.org/officeDocument/2006/relationships/slideLayout" Target="../slideLayouts/slideLayout20.xml"/><Relationship Id="rId9" Type="http://schemas.openxmlformats.org/officeDocument/2006/relationships/slideLayout" Target="../slideLayouts/slideLayout21.xml"/><Relationship Id="rId10" Type="http://schemas.openxmlformats.org/officeDocument/2006/relationships/slideLayout" Target="../slideLayouts/slideLayout22.xml"/><Relationship Id="rId11" Type="http://schemas.openxmlformats.org/officeDocument/2006/relationships/slideLayout" Target="../slideLayouts/slideLayout23.xml"/><Relationship Id="rId12" Type="http://schemas.openxmlformats.org/officeDocument/2006/relationships/slideLayout" Target="../slideLayouts/slideLayout24.xml"/><Relationship Id="rId13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121317"/>
        </a:solid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grant-desk-245858333498.us-central1.run.app/" TargetMode="External"/><Relationship Id="rId4" Type="http://schemas.openxmlformats.org/officeDocument/2006/relationships/hyperlink" Target="https://console.cloud.google.com/bigquery?facet_url=https:%2F%2Fcloud.google.com%2Fbigquery&amp;project=qwiklabs-gcp-04-7254cc802c4d&amp;ws=!1m6!1m5!4m3!1sqwiklabs-gcp-04-7254cc802c4d!2sa4i_econ!3stract_demographics!23sTREE_NODE_SELECTION" TargetMode="External"/><Relationship Id="rId5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317"/>
        </a:solid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27"/>
          <p:cNvSpPr txBox="1"/>
          <p:nvPr/>
        </p:nvSpPr>
        <p:spPr>
          <a:xfrm>
            <a:off x="5790775" y="2503300"/>
            <a:ext cx="3080700" cy="613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1650" lIns="61650" spcFirstLastPara="1" rIns="61650" wrap="square" tIns="6165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000" b="1">
                <a:solidFill>
                  <a:srgbClr val="5F6368"/>
                </a:solidFill>
              </a:defRPr>
            </a:pPr>
            <a:r>
              <a:t>Team 3</a:t>
            </a:r>
            <a:endParaRPr sz="4800">
              <a:solidFill>
                <a:schemeClr val="lt1"/>
              </a:solidFill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12" name="Google Shape;112;p27" title="A4I_whiteArtboard 38.5-NYC.png"/>
          <p:cNvPicPr preferRelativeResize="0"/>
          <p:nvPr/>
        </p:nvPicPr>
        <p:blipFill rotWithShape="1">
          <a:blip r:embed="rId3">
            <a:alphaModFix/>
          </a:blip>
          <a:srcRect b="25727" l="0" r="0" t="27378"/>
          <a:stretch/>
        </p:blipFill>
        <p:spPr>
          <a:xfrm flipH="1" rot="10800000">
            <a:off x="3586375" y="2509998"/>
            <a:ext cx="2276050" cy="600399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TextBox 112"/>
          <p:cNvSpPr txBox="1"/>
          <p:nvPr/>
        </p:nvSpPr>
        <p:spPr>
          <a:xfrm>
            <a:off x="731520" y="1097280"/>
            <a:ext cx="76809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1A73E8"/>
                </a:solidFill>
              </a:defRPr>
            </a:pPr>
            <a:r>
              <a:t>Grant Advisor</a:t>
            </a:r>
          </a:p>
          <a:p>
            <a:pPr>
              <a:defRPr sz="2200" b="1">
                <a:solidFill>
                  <a:srgbClr val="202124"/>
                </a:solidFill>
              </a:defRPr>
            </a:pPr>
            <a:r>
              <a:t>Community Economic Resilience &amp; Micro-Grants</a:t>
            </a:r>
          </a:p>
          <a:p>
            <a:pPr>
              <a:defRPr sz="1300">
                <a:solidFill>
                  <a:srgbClr val="5F6368"/>
                </a:solidFill>
              </a:defRPr>
            </a:pPr>
            <a:r>
              <a:t>Agents for Impact 2026 | Track: Main Street Relief | Corridor: Central Market, SF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317"/>
        </a:solidFill>
      </p:bgPr>
    </p:bg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28"/>
          <p:cNvGraphicFramePr/>
          <p:nvPr/>
        </p:nvGraphicFramePr>
        <p:xfrm>
          <a:off x="577750" y="135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{28DAF0F1-305B-411C-B7D9-DB96C7EA302D}</a:tableStyleId>
              </a:tblPr>
              <a:tblGrid>
                <a:gridCol w="1352950"/>
                <a:gridCol w="1352950"/>
                <a:gridCol w="1238050"/>
                <a:gridCol w="1467825"/>
                <a:gridCol w="1352950"/>
                <a:gridCol w="1352950"/>
              </a:tblGrid>
              <a:tr h="39967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800">
                          <a:solidFill>
                            <a:schemeClr val="lt1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NAME </a:t>
                      </a:r>
                      <a:endParaRPr b="1" sz="800">
                        <a:solidFill>
                          <a:schemeClr val="lt1"/>
                        </a:solidFill>
                        <a:latin typeface="Google Sans Flex"/>
                        <a:ea typeface="Google Sans Flex"/>
                        <a:cs typeface="Google Sans Flex"/>
                        <a:sym typeface="Google Sans Flex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" sz="800">
                          <a:solidFill>
                            <a:schemeClr val="lt1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EMAIL</a:t>
                      </a:r>
                      <a:endParaRPr b="1" sz="800">
                        <a:latin typeface="Google Sans Flex"/>
                        <a:ea typeface="Google Sans Flex"/>
                        <a:cs typeface="Google Sans Flex"/>
                        <a:sym typeface="Google Sans Flex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" sz="800">
                          <a:solidFill>
                            <a:schemeClr val="lt1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PHONE</a:t>
                      </a:r>
                      <a:endParaRPr b="1" sz="800">
                        <a:latin typeface="Google Sans Flex"/>
                        <a:ea typeface="Google Sans Flex"/>
                        <a:cs typeface="Google Sans Flex"/>
                        <a:sym typeface="Google Sans Flex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800">
                          <a:solidFill>
                            <a:schemeClr val="lt1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FILMING AVAILABILITY</a:t>
                      </a:r>
                      <a:endParaRPr b="1" sz="800">
                        <a:solidFill>
                          <a:schemeClr val="lt1"/>
                        </a:solidFill>
                        <a:latin typeface="Google Sans Flex"/>
                        <a:ea typeface="Google Sans Flex"/>
                        <a:cs typeface="Google Sans Flex"/>
                        <a:sym typeface="Google Sans Flex"/>
                      </a:endParaRPr>
                    </a:p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600">
                          <a:solidFill>
                            <a:schemeClr val="lt1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(between 1-4PM on 10/21)</a:t>
                      </a:r>
                      <a:endParaRPr sz="600">
                        <a:solidFill>
                          <a:schemeClr val="lt1"/>
                        </a:solidFill>
                        <a:latin typeface="Google Sans Flex"/>
                        <a:ea typeface="Google Sans Flex"/>
                        <a:cs typeface="Google Sans Flex"/>
                        <a:sym typeface="Google Sans Flex"/>
                      </a:endParaRPr>
                    </a:p>
                  </a:txBody>
                  <a:tcPr marT="19050" marB="19050" marR="28575" marL="28575" anchor="ctr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800">
                          <a:solidFill>
                            <a:schemeClr val="lt1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PROJECT SHARING</a:t>
                      </a:r>
                      <a:endParaRPr b="1" sz="800">
                        <a:solidFill>
                          <a:schemeClr val="lt1"/>
                        </a:solidFill>
                        <a:latin typeface="Google Sans Flex"/>
                        <a:ea typeface="Google Sans Flex"/>
                        <a:cs typeface="Google Sans Flex"/>
                        <a:sym typeface="Google Sans Flex"/>
                      </a:endParaRPr>
                    </a:p>
                  </a:txBody>
                  <a:tcPr marT="19050" marB="19050" marR="28575" marL="28575" anchor="ctr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" sz="800">
                          <a:solidFill>
                            <a:schemeClr val="lt1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SHARE WITH </a:t>
                      </a:r>
                      <a:br>
                        <a:rPr b="1" lang="en" sz="800">
                          <a:solidFill>
                            <a:schemeClr val="lt1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</a:br>
                      <a:r>
                        <a:rPr lang="en" sz="600">
                          <a:solidFill>
                            <a:schemeClr val="lt1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(provide emails)</a:t>
                      </a:r>
                      <a:endParaRPr sz="600">
                        <a:latin typeface="Google Sans Flex"/>
                        <a:ea typeface="Google Sans Flex"/>
                        <a:cs typeface="Google Sans Flex"/>
                        <a:sym typeface="Google Sans Flex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7177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lt1"/>
                          </a:solidFill>
                        </a:rPr>
                        <a:t>Shihao Li</a:t>
                      </a:r>
                      <a:r>
                        <a:rPr lang="en">
                          <a:solidFill>
                            <a:schemeClr val="lt1"/>
                          </a:solidFill>
                        </a:rPr>
                        <a:t> 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chemeClr val="lt1"/>
                          </a:solidFill>
                        </a:rPr>
                        <a:t>lish1998@gmail.com</a:t>
                      </a:r>
                      <a:endParaRPr sz="12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chemeClr val="lt1"/>
                          </a:solidFill>
                        </a:rPr>
                        <a:t>647-389-6899</a:t>
                      </a:r>
                      <a:endParaRPr sz="12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lt1"/>
                          </a:solidFill>
                        </a:rPr>
                        <a:t>Yes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19050" marB="19050" marR="28575" marL="28575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1" lang="en">
                          <a:solidFill>
                            <a:schemeClr val="lt1"/>
                          </a:solidFill>
                        </a:rPr>
                        <a:t>Yes</a:t>
                      </a:r>
                      <a:endParaRPr i="1">
                        <a:solidFill>
                          <a:schemeClr val="lt1"/>
                        </a:solidFill>
                      </a:endParaRPr>
                    </a:p>
                  </a:txBody>
                  <a:tcPr marT="19050" marB="19050" marR="28575" marL="28575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7177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lt1"/>
                          </a:solidFill>
                        </a:rPr>
                        <a:t>Daniel Wang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chemeClr val="lt1"/>
                          </a:solidFill>
                        </a:rPr>
                        <a:t>danielw.sas@gmail.com</a:t>
                      </a:r>
                      <a:endParaRPr sz="12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chemeClr val="lt1"/>
                          </a:solidFill>
                        </a:rPr>
                        <a:t>647-208-8762</a:t>
                      </a:r>
                      <a:endParaRPr sz="12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lt1"/>
                          </a:solidFill>
                        </a:rPr>
                        <a:t>Yes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19050" marB="19050" marR="28575" marL="28575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lt1"/>
                          </a:solidFill>
                        </a:rPr>
                        <a:t>Yes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19050" marB="19050" marR="28575" marL="28575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384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lt1"/>
                          </a:solidFill>
                        </a:rPr>
                        <a:t>Harmeet D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chemeClr val="lt1"/>
                          </a:solidFill>
                        </a:rPr>
                        <a:t>harmeet.kaur2711@gmail.com</a:t>
                      </a:r>
                      <a:endParaRPr sz="12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chemeClr val="lt1"/>
                          </a:solidFill>
                        </a:rPr>
                        <a:t>905-244-4392</a:t>
                      </a:r>
                      <a:endParaRPr sz="12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lt1"/>
                          </a:solidFill>
                        </a:rPr>
                        <a:t>No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19050" marB="19050" marR="28575" marL="28575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lt1"/>
                          </a:solidFill>
                        </a:rPr>
                        <a:t>Yes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19050" marB="19050" marR="28575" marL="28575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384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lt1"/>
                          </a:solidFill>
                        </a:rPr>
                        <a:t>Abhishek B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chemeClr val="lt1"/>
                          </a:solidFill>
                        </a:rPr>
                        <a:t>abhishekbhatt006@gmail.com</a:t>
                      </a:r>
                      <a:endParaRPr sz="12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chemeClr val="lt1"/>
                          </a:solidFill>
                        </a:rPr>
                        <a:t>416-317-4960</a:t>
                      </a:r>
                      <a:endParaRPr sz="12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lt1"/>
                          </a:solidFill>
                        </a:rPr>
                        <a:t>Yes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19050" marB="19050" marR="28575" marL="28575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lt1"/>
                          </a:solidFill>
                        </a:rPr>
                        <a:t>Yes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19050" marB="19050" marR="28575" marL="28575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7177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lt1"/>
                          </a:solidFill>
                        </a:rPr>
                        <a:t>Jaskirat T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chemeClr val="lt1"/>
                          </a:solidFill>
                        </a:rPr>
                        <a:t>jaskiratsingh2431@gmail.com</a:t>
                      </a:r>
                      <a:endParaRPr sz="12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chemeClr val="lt1"/>
                          </a:solidFill>
                        </a:rPr>
                        <a:t>438-921-0001</a:t>
                      </a:r>
                      <a:endParaRPr sz="12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lt1"/>
                          </a:solidFill>
                        </a:rPr>
                        <a:t>Yes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19050" marB="19050" marR="28575" marL="28575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lt1"/>
                          </a:solidFill>
                        </a:rPr>
                        <a:t>Yes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19050" marB="19050" marR="28575" marL="28575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118" name="Google Shape;118;p28"/>
          <p:cNvSpPr txBox="1"/>
          <p:nvPr>
            <p:ph idx="12" type="sldNum"/>
          </p:nvPr>
        </p:nvSpPr>
        <p:spPr>
          <a:xfrm>
            <a:off x="8365633" y="470888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9" name="Google Shape;119;p28"/>
          <p:cNvSpPr txBox="1"/>
          <p:nvPr/>
        </p:nvSpPr>
        <p:spPr>
          <a:xfrm>
            <a:off x="3415450" y="567011"/>
            <a:ext cx="5330100" cy="682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8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Filming Availability: </a:t>
            </a:r>
            <a:r>
              <a:rPr lang="en" sz="8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Should your team be selected as the winner, indicate if and when you are able to return to the Opera House between 1-4PM on 10/21 to film a team pitch of your project. </a:t>
            </a:r>
            <a:endParaRPr sz="800">
              <a:solidFill>
                <a:schemeClr val="lt1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8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Project Sharing: </a:t>
            </a:r>
            <a:r>
              <a:rPr lang="en" sz="8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Mark “yes” if you are OK with us sharing what you built with your team at work.</a:t>
            </a:r>
            <a:endParaRPr sz="800">
              <a:solidFill>
                <a:schemeClr val="lt1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8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Share With: </a:t>
            </a:r>
            <a:r>
              <a:rPr lang="en" sz="8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If “yes” to the above, is there anyone specific you’d like us to share it with at work?  Provide email(s).</a:t>
            </a:r>
            <a:endParaRPr sz="800">
              <a:solidFill>
                <a:schemeClr val="lt1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317"/>
        </a:solidFill>
      </p:bgPr>
    </p:bg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9"/>
          <p:cNvSpPr txBox="1"/>
          <p:nvPr>
            <p:ph idx="12" type="sldNum"/>
          </p:nvPr>
        </p:nvSpPr>
        <p:spPr>
          <a:xfrm>
            <a:off x="8365633" y="470888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125" name="Google Shape;125;p29" title="A4I_whiteArtboard 28.5-NYC.png"/>
          <p:cNvPicPr preferRelativeResize="0"/>
          <p:nvPr/>
        </p:nvPicPr>
        <p:blipFill rotWithShape="1">
          <a:blip r:embed="rId3">
            <a:alphaModFix/>
          </a:blip>
          <a:srcRect b="0" l="32349" r="40091" t="0"/>
          <a:stretch/>
        </p:blipFill>
        <p:spPr>
          <a:xfrm>
            <a:off x="1774475" y="471199"/>
            <a:ext cx="1003551" cy="2048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6" name="Google Shape;126;p29" title="A4I_whiteArtboard 28.5-NYC.png"/>
          <p:cNvPicPr preferRelativeResize="0"/>
          <p:nvPr/>
        </p:nvPicPr>
        <p:blipFill rotWithShape="1">
          <a:blip r:embed="rId3">
            <a:alphaModFix/>
          </a:blip>
          <a:srcRect b="0" l="32349" r="40091" t="0"/>
          <a:stretch/>
        </p:blipFill>
        <p:spPr>
          <a:xfrm rot="10800000">
            <a:off x="6382750" y="506306"/>
            <a:ext cx="1003551" cy="2048250"/>
          </a:xfrm>
          <a:prstGeom prst="rect">
            <a:avLst/>
          </a:prstGeom>
          <a:noFill/>
          <a:ln>
            <a:noFill/>
          </a:ln>
        </p:spPr>
      </p:pic>
      <p:sp>
        <p:nvSpPr>
          <p:cNvPr id="127" name="Google Shape;127;p29"/>
          <p:cNvSpPr txBox="1"/>
          <p:nvPr/>
        </p:nvSpPr>
        <p:spPr>
          <a:xfrm>
            <a:off x="129325" y="2637075"/>
            <a:ext cx="8700000" cy="199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lt1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 city has $50,000 and more applicants than money. Ranking them one by one misses the supply chains between them: one closure can push businesses 1–2 hops away into trouble.</a:t>
            </a:r>
            <a:endParaRPr sz="1200">
              <a:solidFill>
                <a:schemeClr val="dk1"/>
              </a:solidFill>
            </a:endParaRPr>
          </a:p>
          <a:p>
            <a:pPr indent="0" lvl="0" marL="0" rtl="0" algn="ctr">
              <a:lnSpc>
                <a:spcPct val="105000"/>
              </a:lnSpc>
              <a:spcBef>
                <a:spcPts val="2100"/>
              </a:spcBef>
              <a:spcAft>
                <a:spcPts val="2100"/>
              </a:spcAft>
              <a:buNone/>
            </a:pPr>
            <a:r>
              <a:rPr lang="en" sz="1500" b="1">
                <a:solidFill>
                  <a:schemeClr val="lt1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Who benefits: </a:t>
            </a:r>
            <a:r>
              <a:rPr lang="en" sz="1500" b="0">
                <a:solidFill>
                  <a:schemeClr val="lt1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grant officers get a defensible, network-aware recommendation; residents of high-poverty corridors like SF's Central Market keep the storefronts they rely on.</a:t>
            </a:r>
            <a:endParaRPr sz="1200">
              <a:solidFill>
                <a:schemeClr val="lt1"/>
              </a:solidFill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8" name="TextBox 127"/>
          <p:cNvSpPr txBox="1"/>
          <p:nvPr/>
        </p:nvSpPr>
        <p:spPr>
          <a:xfrm>
            <a:off x="457200" y="457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A73E8"/>
                </a:solidFill>
              </a:defRPr>
            </a:pPr>
            <a:r>
              <a:t>The Problem: Relief That Ignores the Network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317"/>
        </a:solidFill>
      </p:bgPr>
    </p:bg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30"/>
          <p:cNvSpPr txBox="1"/>
          <p:nvPr>
            <p:ph idx="12" type="sldNum"/>
          </p:nvPr>
        </p:nvSpPr>
        <p:spPr>
          <a:xfrm>
            <a:off x="8248058" y="491462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33" name="Google Shape;133;p30"/>
          <p:cNvSpPr txBox="1"/>
          <p:nvPr/>
        </p:nvSpPr>
        <p:spPr>
          <a:xfrm>
            <a:off x="127850" y="2358534"/>
            <a:ext cx="8543100" cy="74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45720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00">
                <a:solidFill>
                  <a:schemeClr val="lt1"/>
                </a:solidFill>
              </a:rPr>
              <a:t>The Agent</a:t>
            </a:r>
            <a:endParaRPr b="1" sz="1300">
              <a:solidFill>
                <a:schemeClr val="lt1"/>
              </a:solidFill>
            </a:endParaRPr>
          </a:p>
          <a:p>
            <a:pPr indent="0" lvl="0" marL="457200" rtl="0" algn="ctr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lang="en" sz="1100" b="1">
                <a:solidFill>
                  <a:schemeClr val="lt1"/>
                </a:solidFill>
              </a:rPr>
              <a:t>Google ADK + Gemini</a:t>
            </a:r>
            <a:r>
              <a:rPr lang="en" sz="1100" b="0">
                <a:solidFill>
                  <a:schemeClr val="lt1"/>
                </a:solidFill>
              </a:rPr>
              <a:t> walk a </a:t>
            </a:r>
            <a:r>
              <a:rPr lang="en" sz="1100" b="1">
                <a:solidFill>
                  <a:schemeClr val="lt1"/>
                </a:solidFill>
              </a:rPr>
              <a:t>BigQuery property graph (multi-hop GQL)</a:t>
            </a:r>
            <a:r>
              <a:rPr lang="en" sz="1100" b="0">
                <a:solidFill>
                  <a:schemeClr val="lt1"/>
                </a:solidFill>
              </a:rPr>
              <a:t> to find every business a closure would expose.</a:t>
            </a:r>
            <a:endParaRPr sz="1200">
              <a:solidFill>
                <a:schemeClr val="lt1"/>
              </a:solidFill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34" name="Google Shape;134;p3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10800000">
            <a:off x="0" y="-3"/>
            <a:ext cx="1936451" cy="26924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5" name="Google Shape;135;p3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207550" y="-3"/>
            <a:ext cx="1936451" cy="2692450"/>
          </a:xfrm>
          <a:prstGeom prst="rect">
            <a:avLst/>
          </a:prstGeom>
          <a:noFill/>
          <a:ln>
            <a:noFill/>
          </a:ln>
        </p:spPr>
      </p:pic>
      <p:sp>
        <p:nvSpPr>
          <p:cNvPr id="136" name="Google Shape;136;p30"/>
          <p:cNvSpPr txBox="1"/>
          <p:nvPr/>
        </p:nvSpPr>
        <p:spPr>
          <a:xfrm>
            <a:off x="253650" y="3171584"/>
            <a:ext cx="8543100" cy="74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45720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00">
                <a:solidFill>
                  <a:schemeClr val="lt1"/>
                </a:solidFill>
              </a:rPr>
              <a:t>User Interaction</a:t>
            </a:r>
            <a:r>
              <a:rPr lang="en" sz="1300">
                <a:solidFill>
                  <a:schemeClr val="lt1"/>
                </a:solidFill>
              </a:rPr>
              <a:t> </a:t>
            </a:r>
            <a:endParaRPr sz="1300">
              <a:solidFill>
                <a:schemeClr val="lt1"/>
              </a:solidFill>
            </a:endParaRPr>
          </a:p>
          <a:p>
            <a:pPr indent="0" lvl="0" marL="457200" rtl="0" algn="ctr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lang="en" sz="1100">
                <a:solidFill>
                  <a:schemeClr val="lt1"/>
                </a:solidFill>
              </a:rPr>
              <a:t>The officer sets a budget in the Grant Desk; the agent ranks the queue, traces the cascade and answers follow-up questions.</a:t>
            </a:r>
            <a:endParaRPr sz="1200">
              <a:solidFill>
                <a:schemeClr val="lt1"/>
              </a:solidFill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37" name="Google Shape;137;p30"/>
          <p:cNvSpPr txBox="1"/>
          <p:nvPr/>
        </p:nvSpPr>
        <p:spPr>
          <a:xfrm>
            <a:off x="253650" y="3984628"/>
            <a:ext cx="8543100" cy="108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457200" rtl="0" algn="ctr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b="1" lang="en" sz="1300">
                <a:solidFill>
                  <a:schemeClr val="lt1"/>
                </a:solidFill>
              </a:rPr>
              <a:t>Concrete Outcome</a:t>
            </a:r>
            <a:endParaRPr sz="1300">
              <a:solidFill>
                <a:schemeClr val="lt1"/>
              </a:solidFill>
            </a:endParaRPr>
          </a:p>
          <a:p>
            <a:pPr indent="0" lvl="0" marL="45720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b="0">
                <a:solidFill>
                  <a:schemeClr val="lt1"/>
                </a:solidFill>
              </a:rPr>
              <a:t>A </a:t>
            </a:r>
            <a:r>
              <a:rPr lang="en" sz="1100" b="1">
                <a:solidFill>
                  <a:schemeClr val="lt1"/>
                </a:solidFill>
              </a:rPr>
              <a:t>Grant Memo</a:t>
            </a:r>
            <a:r>
              <a:rPr lang="en" sz="1100" b="0">
                <a:solidFill>
                  <a:schemeClr val="lt1"/>
                </a:solidFill>
              </a:rPr>
              <a:t>: who to fund, how much, which businesses it protects, why not the runner-up, plus an equity audit.</a:t>
            </a:r>
            <a:endParaRPr sz="1100">
              <a:solidFill>
                <a:schemeClr val="lt1"/>
              </a:solidFill>
            </a:endParaRPr>
          </a:p>
          <a:p>
            <a:pPr indent="0" lvl="0" marL="457200" rtl="0" algn="ctr">
              <a:lnSpc>
                <a:spcPct val="105000"/>
              </a:lnSpc>
              <a:spcBef>
                <a:spcPts val="1200"/>
              </a:spcBef>
              <a:spcAft>
                <a:spcPts val="2100"/>
              </a:spcAft>
              <a:buNone/>
            </a:pPr>
            <a:r>
              <a:t/>
            </a:r>
            <a:endParaRPr sz="1200">
              <a:solidFill>
                <a:schemeClr val="lt1"/>
              </a:solidFill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38" name="TextBox 137"/>
          <p:cNvSpPr txBox="1"/>
          <p:nvPr/>
        </p:nvSpPr>
        <p:spPr>
          <a:xfrm>
            <a:off x="1965960" y="274320"/>
            <a:ext cx="5212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A73E8"/>
                </a:solidFill>
              </a:defRPr>
            </a:pPr>
            <a:r>
              <a:t>A Network-Aware Grant Advisor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317"/>
        </a:solidFill>
      </p:bgPr>
    </p:bg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31"/>
          <p:cNvSpPr txBox="1"/>
          <p:nvPr/>
        </p:nvSpPr>
        <p:spPr>
          <a:xfrm>
            <a:off x="489150" y="1714450"/>
            <a:ext cx="5587500" cy="1909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None/>
              <a:defRPr sz="1300"/>
            </a:pPr>
            <a:br>
              <a:rPr lang="en">
                <a:solidFill>
                  <a:schemeClr val="lt1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</a:br>
            <a:r>
              <a:rPr lang="en" b="1" sz="1200">
                <a:solidFill>
                  <a:schemeClr val="lt1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App: </a:t>
            </a:r>
            <a:r>
              <a:rPr lang="en" b="0" sz="1200">
                <a:solidFill>
                  <a:schemeClr val="lt1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grant-desk (private Cloud Run service)</a:t>
            </a:r>
            <a:endParaRPr sz="1200">
              <a:solidFill>
                <a:schemeClr val="lt1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05000"/>
              </a:lnSpc>
              <a:spcBef>
                <a:spcPts val="2100"/>
              </a:spcBef>
              <a:spcAft>
                <a:spcPts val="0"/>
              </a:spcAft>
              <a:buNone/>
              <a:defRPr sz="1300"/>
            </a:pPr>
            <a:br>
              <a:rPr lang="en">
                <a:solidFill>
                  <a:schemeClr val="lt1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</a:br>
            <a:r>
              <a:rPr lang="en" b="1" sz="1200">
                <a:solidFill>
                  <a:schemeClr val="lt1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Data: </a:t>
            </a:r>
            <a:r>
              <a:rPr lang="en" b="0" sz="1200">
                <a:solidFill>
                  <a:schemeClr val="lt1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BigQuery, 232 real Central Market businesses</a:t>
            </a:r>
            <a:endParaRPr sz="1200">
              <a:solidFill>
                <a:schemeClr val="lt1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None/>
              <a:defRPr sz="1300"/>
            </a:pPr>
            <a:r>
              <a:rPr lang="en" sz="1200" b="1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Repo: </a:t>
            </a:r>
            <a:r>
              <a:rPr lang="en" sz="1200" b="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github.com/michael-shl/google-hackathon-trt3</a:t>
            </a:r>
            <a:endParaRPr sz="1200">
              <a:solidFill>
                <a:schemeClr val="lt1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None/>
              <a:defRPr sz="1300"/>
            </a:pPr>
            <a:r>
              <a:t/>
            </a:r>
            <a:endParaRPr sz="1200">
              <a:solidFill>
                <a:schemeClr val="lt1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1200"/>
              </a:spcAft>
              <a:buNone/>
              <a:defRPr sz="1300"/>
            </a:pPr>
            <a:r>
              <a:t/>
            </a:r>
            <a:endParaRPr sz="1200">
              <a:solidFill>
                <a:schemeClr val="lt1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sp>
        <p:nvSpPr>
          <p:cNvPr id="143" name="Google Shape;143;p31"/>
          <p:cNvSpPr txBox="1"/>
          <p:nvPr>
            <p:ph idx="12" type="sldNum"/>
          </p:nvPr>
        </p:nvSpPr>
        <p:spPr>
          <a:xfrm>
            <a:off x="8365633" y="470888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144" name="Google Shape;144;p31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 rot="10800000">
            <a:off x="4175675" y="519496"/>
            <a:ext cx="4769550" cy="951275"/>
          </a:xfrm>
          <a:prstGeom prst="rect">
            <a:avLst/>
          </a:prstGeom>
          <a:noFill/>
          <a:ln>
            <a:noFill/>
          </a:ln>
        </p:spPr>
      </p:pic>
      <p:sp>
        <p:nvSpPr>
          <p:cNvPr id="145" name="TextBox 144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A73E8"/>
                </a:solidFill>
              </a:defRPr>
            </a:pPr>
            <a:r>
              <a:t>Live Demo on Real Data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457200" y="3429000"/>
            <a:ext cx="8229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202124"/>
                </a:solidFill>
              </a:defRPr>
            </a:pPr>
            <a:r>
              <a:rPr>
                <a:solidFill>
                  <a:srgbClr val="E8EAED"/>
                </a:solidFill>
              </a:rPr>
              <a:t>$50,000 across 11 applicants (simulated applications, real businesses):</a:t>
            </a:r>
          </a:p>
          <a:p>
            <a:pPr>
              <a:defRPr sz="1200">
                <a:solidFill>
                  <a:srgbClr val="3C4043"/>
                </a:solidFill>
              </a:defRPr>
            </a:pPr>
            <a:r>
              <a:rPr>
                <a:solidFill>
                  <a:srgbClr val="E8EAED"/>
                </a:solidFill>
              </a:rPr>
              <a:t>• Funds Cumaica Coffee $20k and Sour Flour $25k: each protects 148 businesses within 2 hops.</a:t>
            </a:r>
          </a:p>
          <a:p>
            <a:pPr>
              <a:defRPr sz="1200">
                <a:solidFill>
                  <a:srgbClr val="3C4043"/>
                </a:solidFill>
              </a:defRPr>
            </a:pPr>
            <a:r>
              <a:rPr>
                <a:solidFill>
                  <a:srgbClr val="E8EAED"/>
                </a:solidFill>
              </a:rPr>
              <a:t>• Uses the whole budget: a partial $5k grant to G.Rabbit (18 businesses exposed).</a:t>
            </a:r>
          </a:p>
          <a:p>
            <a:pPr>
              <a:defRPr sz="1200">
                <a:solidFill>
                  <a:srgbClr val="3C4043"/>
                </a:solidFill>
              </a:defRPr>
            </a:pPr>
            <a:r>
              <a:rPr>
                <a:solidFill>
                  <a:srgbClr val="E8EAED"/>
                </a:solidFill>
              </a:rPr>
              <a:t>• Every path comes from a live BigQuery GQL traversal, written up as a 7-section Grant Memo.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317"/>
        </a:solidFill>
      </p:bgPr>
    </p:bg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32"/>
          <p:cNvSpPr txBox="1"/>
          <p:nvPr>
            <p:ph idx="12" type="sldNum"/>
          </p:nvPr>
        </p:nvSpPr>
        <p:spPr>
          <a:xfrm>
            <a:off x="8365633" y="470888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152" name="Google Shape;152;p3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29868" y="1645920"/>
            <a:ext cx="6684264" cy="2377440"/>
          </a:xfrm>
          <a:prstGeom prst="rect">
            <a:avLst/>
          </a:prstGeom>
          <a:noFill/>
          <a:ln>
            <a:noFill/>
          </a:ln>
        </p:spPr>
      </p:pic>
      <p:sp>
        <p:nvSpPr>
          <p:cNvPr id="153" name="TextBox 152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A73E8"/>
                </a:solidFill>
              </a:defRPr>
            </a:pPr>
            <a:r>
              <a:t>Architecture &amp; Rigor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57200" y="40690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202124"/>
                </a:solidFill>
              </a:defRPr>
            </a:pPr>
            <a:r>
              <a:rPr lang="en-US" b="1">
                <a:solidFill>
                  <a:srgbClr val="E8EAED"/>
                </a:solidFill>
              </a:rPr>
              <a:t>Built on: </a:t>
            </a:r>
            <a:r>
              <a:rPr lang="en-US" b="0">
                <a:solidFill>
                  <a:srgbClr val="E8EAED"/>
                </a:solidFill>
              </a:rPr>
              <a:t>Cloud Run (private) · ADK + Gemini 2.5 Flash · MCP Toolbox · BigQuery property graph</a:t>
            </a:r>
          </a:p>
          <a:p>
            <a:pPr>
              <a:defRPr sz="1000">
                <a:solidFill>
                  <a:srgbClr val="5F6368"/>
                </a:solidFill>
              </a:defRPr>
            </a:pPr>
            <a:r>
              <a:rPr lang="en-US" b="1">
                <a:solidFill>
                  <a:srgbClr val="E8EAED"/>
                </a:solidFill>
              </a:rPr>
              <a:t>Rigor: </a:t>
            </a:r>
            <a:r>
              <a:rPr lang="en-US" b="0">
                <a:solidFill>
                  <a:srgbClr val="E8EAED"/>
                </a:solidFill>
              </a:rPr>
              <a:t>real vs modeled data labelled on every answer · grant effect stated with low / base / high settings · equity audit · 31 tests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